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cc22bfa2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cc22bfa2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cc22bfa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7cc22bfa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7cc22bfa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7cc22bfa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cc22bfa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7cc22bfa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cc1296a19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cc1296a19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cc1296a19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cc1296a19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cbbbbc1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cbbbbc1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cc1296a19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9cc1296a19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cc1296a1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cc1296a1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cc1296a19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cc1296a19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ipzKmoMXy_FGTaxpdrGX20rxdGP7BUH-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3000">
                <a:latin typeface="Times New Roman"/>
                <a:ea typeface="Times New Roman"/>
                <a:cs typeface="Times New Roman"/>
                <a:sym typeface="Times New Roman"/>
              </a:rPr>
              <a:t>LOGISTICS OPTIMIZATION FOR DELIVERY ROUTES 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-GB" sz="1517">
                <a:latin typeface="Times New Roman"/>
                <a:ea typeface="Times New Roman"/>
                <a:cs typeface="Times New Roman"/>
                <a:sym typeface="Times New Roman"/>
              </a:rPr>
              <a:t>SQL-Driven Analytics Dashboard</a:t>
            </a:r>
            <a:endParaRPr b="1" sz="151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61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12900" y="1307850"/>
            <a:ext cx="3359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🎯 BUSINESS CHALLENGE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Amazon faces delivery delays affecting: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Customer Satisfaction 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Operational Costs 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4977300" y="1613200"/>
            <a:ext cx="3359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🔍 OUR SOLUTION: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SQL Analytics System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Identify delay root causes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Optimize delivery routes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Improve shipping efficiency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DATASET OVERVIEW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📊 5 KEY TABLES ANALYZED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Orders (300+ records)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Routes (20 routes)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Warehouses (10 locations)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Delivery Agents (50 agents)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Shipment Tracking (checkpoints)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🛠️ Tools: MySQL Workbench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97500" y="4257925"/>
            <a:ext cx="72366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Video link:  </a:t>
            </a:r>
            <a:r>
              <a:rPr lang="en-GB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Video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Task 1: Data Cleaning &amp; Preparation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074300" y="1307900"/>
            <a:ext cx="2268600" cy="28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6D7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 Order_IDs</a:t>
            </a:r>
            <a:endParaRPr b="1">
              <a:solidFill>
                <a:srgbClr val="B6D7A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SELECT Order_ID, COUNT(*) </a:t>
            </a:r>
            <a:r>
              <a:rPr lang="en-GB" sz="800">
                <a:solidFill>
                  <a:schemeClr val="accent2"/>
                </a:solidFill>
              </a:rPr>
              <a:t>A</a:t>
            </a:r>
            <a:r>
              <a:rPr lang="en-GB" sz="800">
                <a:solidFill>
                  <a:schemeClr val="accent2"/>
                </a:solidFill>
              </a:rPr>
              <a:t>S duplicate_count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FROM orders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GROUP BY Order_ID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HAVING COUNT(*) &gt; 1;</a:t>
            </a:r>
            <a:endParaRPr sz="800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duplicates found</a:t>
            </a:r>
            <a:endParaRPr sz="900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3615850" y="1307900"/>
            <a:ext cx="2268600" cy="28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78">
                <a:solidFill>
                  <a:srgbClr val="B6D7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Filled NULL Traffic_Delay_Min with Route Average</a:t>
            </a:r>
            <a:endParaRPr b="1" sz="1278">
              <a:solidFill>
                <a:srgbClr val="B6D7A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UPDATE routes 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SET  Traffic_Delay_Min = (SELECT 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AVG(Traffic_Delay_Min) FROM  routes )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WHERE  Traffic_Delay_Min IS NULL;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nulls found</a:t>
            </a:r>
            <a:endParaRPr sz="900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6067800" y="1307850"/>
            <a:ext cx="2268600" cy="28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6D7A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Date Logic</a:t>
            </a:r>
            <a:endParaRPr b="1">
              <a:solidFill>
                <a:srgbClr val="B6D7A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ALTER TABLE orders ADD COLUMN flag TEXT;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UPDATE orders SET flag = 'Invalid' WHERE Actual_Delivery_Date &lt; Order_Date;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accent2"/>
                </a:solidFill>
              </a:rPr>
              <a:t>SELECT * FROM orders WHERE flag = 'Invalid';</a:t>
            </a:r>
            <a:endParaRPr sz="8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invalid records found</a:t>
            </a:r>
            <a:endParaRPr sz="900">
              <a:solidFill>
                <a:srgbClr val="00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1074300" y="4113800"/>
            <a:ext cx="72621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Date Format</a:t>
            </a:r>
            <a:endParaRPr sz="1300">
              <a:solidFill>
                <a:srgbClr val="93C4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YYYY-MM-DD format already applied</a:t>
            </a:r>
            <a:endParaRPr sz="9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Task 2: Delay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1297500" y="1307850"/>
            <a:ext cx="1781400" cy="24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17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 Calculation</a:t>
            </a:r>
            <a:endParaRPr sz="2317">
              <a:solidFill>
                <a:srgbClr val="93C4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SELECT 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</a:t>
            </a:r>
            <a:r>
              <a:rPr lang="en-GB" sz="910">
                <a:solidFill>
                  <a:schemeClr val="accent2"/>
                </a:solidFill>
              </a:rPr>
              <a:t>Order_ID,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</a:t>
            </a:r>
            <a:r>
              <a:rPr lang="en-GB" sz="910">
                <a:solidFill>
                  <a:schemeClr val="accent2"/>
                </a:solidFill>
              </a:rPr>
              <a:t>Expected_Delivery_Date,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</a:t>
            </a:r>
            <a:r>
              <a:rPr lang="en-GB" sz="910">
                <a:solidFill>
                  <a:schemeClr val="accent2"/>
                </a:solidFill>
              </a:rPr>
              <a:t>Actual_Delivery_Date,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</a:t>
            </a:r>
            <a:r>
              <a:rPr lang="en-GB" sz="910">
                <a:solidFill>
                  <a:schemeClr val="accent2"/>
                </a:solidFill>
              </a:rPr>
              <a:t>DATEDIFF(Actual_Delivery_Date,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        Expected_Delivery_Date) AS delay_days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FROM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10">
                <a:solidFill>
                  <a:schemeClr val="accent2"/>
                </a:solidFill>
              </a:rPr>
              <a:t>    </a:t>
            </a:r>
            <a:r>
              <a:rPr lang="en-GB" sz="910">
                <a:solidFill>
                  <a:schemeClr val="accent2"/>
                </a:solidFill>
              </a:rPr>
              <a:t>o</a:t>
            </a:r>
            <a:r>
              <a:rPr lang="en-GB" sz="910">
                <a:solidFill>
                  <a:schemeClr val="accent2"/>
                </a:solidFill>
              </a:rPr>
              <a:t>rders;</a:t>
            </a:r>
            <a:endParaRPr sz="91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436775"/>
            <a:ext cx="1781400" cy="16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588000" y="1307850"/>
            <a:ext cx="19680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Delayed Routes</a:t>
            </a:r>
            <a:endParaRPr sz="1300">
              <a:solidFill>
                <a:srgbClr val="93C4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Route_ID,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AVG(DATEDIFF(Actual_Delivery_Date,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Expected_Delivery_Date)) AS avg_delay_days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Orders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Route_ID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ORDER BY avg_delay_days DESC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LIMIT 10;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7875" y="3436775"/>
            <a:ext cx="1646800" cy="16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065100" y="1349275"/>
            <a:ext cx="2485500" cy="19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Warehouse-Level Delay Ranking</a:t>
            </a:r>
            <a:endParaRPr sz="1300">
              <a:solidFill>
                <a:srgbClr val="93C4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Order_ID,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Warehouse_ID,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DATEDIFF(Actual_Delivery_Date, Expected_Delivery_Date) AS delay_days,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ROW_NUMBER() OVER (PARTITION BY Warehouse_ID ORDER BY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DATEDIFF(Actual_Delivery_Date, Expected_Delivery_Date) DESC) AS rank_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orders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ORDER BY Warehouse_ID, delay_days DESC;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3925" y="3436775"/>
            <a:ext cx="2456675" cy="16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Task 3: Route Optimization Insights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 txBox="1"/>
          <p:nvPr>
            <p:ph idx="1" type="body"/>
          </p:nvPr>
        </p:nvSpPr>
        <p:spPr>
          <a:xfrm>
            <a:off x="1297500" y="1307850"/>
            <a:ext cx="23802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Average delivery time (in days)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Route_ID,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ROUND(AVG(DATEDIFF(Actual_Delivery_Date, Order_Date)),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        4) AS avg_delivery_days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</a:t>
            </a:r>
            <a:r>
              <a:rPr lang="en-GB" sz="500">
                <a:solidFill>
                  <a:schemeClr val="accent2"/>
                </a:solidFill>
              </a:rPr>
              <a:t>o</a:t>
            </a:r>
            <a:r>
              <a:rPr lang="en-GB" sz="500">
                <a:solidFill>
                  <a:schemeClr val="accent2"/>
                </a:solidFill>
              </a:rPr>
              <a:t>rders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GROUP BY Route_ID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Route_ID;</a:t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053550"/>
            <a:ext cx="15906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3677700" y="1307850"/>
            <a:ext cx="22785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Average traffic delay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Route_ID, Traffic_Delay_Min AS avg_traffic_delay_min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</a:t>
            </a:r>
            <a:r>
              <a:rPr lang="en-GB" sz="500">
                <a:solidFill>
                  <a:schemeClr val="accent2"/>
                </a:solidFill>
              </a:rPr>
              <a:t>r</a:t>
            </a:r>
            <a:r>
              <a:rPr lang="en-GB" sz="500">
                <a:solidFill>
                  <a:schemeClr val="accent2"/>
                </a:solidFill>
              </a:rPr>
              <a:t>outes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Route_ID;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78" name="Google Shape;17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7706" y="3053550"/>
            <a:ext cx="1345294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5956200" y="1307850"/>
            <a:ext cx="25251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Distance-to-time efficiency ratio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Route_ID,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ROUND(Distance_KM / Average_Travel_Time_Min, 4) AS efficiency_ratio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 routes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efficiency_ratio ASC;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12227" y="3053549"/>
            <a:ext cx="1370447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Task 3: Route Optimization Insights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1297500" y="1307850"/>
            <a:ext cx="2380200" cy="17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3 routes with the WORST efficiency ratio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Route_ID,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ROUND(Distance_KM / Average_Travel_Time_Min, 4) AS efficiency_ratio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</a:t>
            </a:r>
            <a:r>
              <a:rPr lang="en-GB" sz="500">
                <a:solidFill>
                  <a:schemeClr val="accent2"/>
                </a:solidFill>
              </a:rPr>
              <a:t>r</a:t>
            </a:r>
            <a:r>
              <a:rPr lang="en-GB" sz="500">
                <a:solidFill>
                  <a:schemeClr val="accent2"/>
                </a:solidFill>
              </a:rPr>
              <a:t>outes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efficiency_ratio ASC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LIMIT 3;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053550"/>
            <a:ext cx="1533525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>
            <p:ph idx="1" type="body"/>
          </p:nvPr>
        </p:nvSpPr>
        <p:spPr>
          <a:xfrm>
            <a:off x="3677700" y="1307850"/>
            <a:ext cx="2380200" cy="24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routes with &gt;20% delayed shipments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Route_ID,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ROUND((COUNT(CASE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            WHEN Delivery_Status = 'Delayed' THEN 1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        END) * 100.0 / COUNT(*)),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        2) AS delayed_percent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</a:t>
            </a:r>
            <a:r>
              <a:rPr lang="en-GB" sz="500">
                <a:solidFill>
                  <a:schemeClr val="accent2"/>
                </a:solidFill>
              </a:rPr>
              <a:t>o</a:t>
            </a:r>
            <a:r>
              <a:rPr lang="en-GB" sz="500">
                <a:solidFill>
                  <a:schemeClr val="accent2"/>
                </a:solidFill>
              </a:rPr>
              <a:t>rders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GROUP BY Route_ID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HAVING delayed_percent &gt; 20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delayed_percent DESC;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89" name="Google Shape;18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875" y="3510575"/>
            <a:ext cx="994050" cy="14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>
            <p:ph idx="1" type="body"/>
          </p:nvPr>
        </p:nvSpPr>
        <p:spPr>
          <a:xfrm>
            <a:off x="6057900" y="1307850"/>
            <a:ext cx="2380200" cy="28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TOP 5 routes needing optimization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SELECT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r.Route_ID,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r.Traffic_Delay_Min,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ROUND(r.Distance_KM / r.Average_Travel_Time_Min, 4) AS efficiency,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ROUND((COUNT(CASE WHEN o.Delivery_Status = 'Delayed' THEN 1 END) *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100.0 / COUNT(*)), 2) AS delayed_percent,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    COUNT(*) AS order_count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FROM routes r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JOIN orders o ON r.Route_ID = o.Route_ID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GROUP BY r.Route_ID, r.Traffic_Delay_Min, r.Distance_KM, 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r.Average_Travel_Time_Min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HAVING delayed_percent &gt; 50 OR efficiency &lt; 0.5 OR Traffic_Delay_Min &gt; 40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ORDER BY delayed_percent DESC, efficiency ASC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</a:rPr>
              <a:t>LIMIT 5;</a:t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7904" y="4018219"/>
            <a:ext cx="2278500" cy="643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650">
                <a:latin typeface="Times New Roman"/>
                <a:ea typeface="Times New Roman"/>
                <a:cs typeface="Times New Roman"/>
                <a:sym typeface="Times New Roman"/>
              </a:rPr>
              <a:t>TASK 4 – WAREHOUSE PERFORMANCE</a:t>
            </a:r>
            <a:endParaRPr b="1" sz="2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1297500" y="1307850"/>
            <a:ext cx="1878000" cy="22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3C47D"/>
                </a:solidFill>
              </a:rPr>
              <a:t>Top 3 Slowest Processing Time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accent2"/>
                </a:solidFill>
              </a:rPr>
              <a:t>SELECT Warehouse_ID, Processing_Time_Min</a:t>
            </a:r>
            <a:endParaRPr sz="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accent2"/>
                </a:solidFill>
              </a:rPr>
              <a:t>FROM warehouses</a:t>
            </a:r>
            <a:endParaRPr sz="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accent2"/>
                </a:solidFill>
              </a:rPr>
              <a:t>ORDER BY Processing_Time_Min DESC</a:t>
            </a:r>
            <a:endParaRPr sz="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accent2"/>
                </a:solidFill>
              </a:rPr>
              <a:t>LIMIT 3;</a:t>
            </a:r>
            <a:endParaRPr sz="7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775" y="3550800"/>
            <a:ext cx="1524750" cy="5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3058575" y="1307850"/>
            <a:ext cx="17562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Total vs. delayed shipments for each warehouse</a:t>
            </a:r>
            <a:endParaRPr sz="9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Warehouse_ID,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COUNT(*) AS total,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COUNT(CASE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WHEN Delivery_Status = 'Delayed' THEN 1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END) AS delayed_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Warehouse_ID;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5500" y="3550800"/>
            <a:ext cx="1396500" cy="109295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814775" y="1307850"/>
            <a:ext cx="18780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Bottleneck warehouses </a:t>
            </a:r>
            <a:endParaRPr sz="9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WITH global_avg AS (SELECT AVG(Processing_Time_Min)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AS avg FROM warehouses)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w.Warehouse_ID, w.Processing_Time_Min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warehouses w, global_avg g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WHERE w.Processing_Time_Min &gt; g.avg;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0325" y="3550650"/>
            <a:ext cx="1366583" cy="68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6771900" y="1307850"/>
            <a:ext cx="15645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Warehouses r</a:t>
            </a:r>
            <a:r>
              <a:rPr lang="en-GB" sz="9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ank </a:t>
            </a:r>
            <a:endParaRPr sz="9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Warehouse_ID, (COUNT(CASE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WHEN Delivery_Status = 'On Time'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THEN 1 END) * 100.0 / COUNT(*)) AS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on_time_percent,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ROW_NUMBER() OVER (ORDER BY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(COUNT(CASE WHEN Delivery_Status =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'On Time' THEN 1 END) * 100.0 /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COUNT(*)) DESC) AS rank_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orders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Warehouse_ID;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1901" y="3485676"/>
            <a:ext cx="1878000" cy="154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TASK 5 – DELIVERY AGENT PERFORMANCE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1"/>
          <p:cNvSpPr txBox="1"/>
          <p:nvPr>
            <p:ph idx="1" type="body"/>
          </p:nvPr>
        </p:nvSpPr>
        <p:spPr>
          <a:xfrm>
            <a:off x="1297500" y="1307850"/>
            <a:ext cx="2141700" cy="20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35">
                <a:solidFill>
                  <a:srgbClr val="93C47D"/>
                </a:solidFill>
              </a:rPr>
              <a:t>Rank agents (per route)</a:t>
            </a:r>
            <a:endParaRPr sz="1335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</a:rPr>
              <a:t>SELECT </a:t>
            </a:r>
            <a:endParaRPr sz="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</a:rPr>
              <a:t>Agent_ID, Route_ID, On_Time_Percentage, </a:t>
            </a:r>
            <a:endParaRPr sz="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</a:rPr>
              <a:t>ROW_NUMBER() OVER (PARTITION BY Route_ID ORDER </a:t>
            </a:r>
            <a:endParaRPr sz="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</a:rPr>
              <a:t>BY On_Time_Percentage DESC) AS rank_</a:t>
            </a:r>
            <a:endParaRPr sz="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</a:rPr>
              <a:t>FROM deliveryagents;</a:t>
            </a:r>
            <a:endParaRPr sz="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500" y="3368250"/>
            <a:ext cx="1420025" cy="14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3439200" y="1307850"/>
            <a:ext cx="2323200" cy="2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Agents with on-time %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Agent_ID, Route_ID, On_Time_Percentage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deliveryagents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On_Time_Percentage &lt; 80;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3258" y="3368250"/>
            <a:ext cx="965792" cy="14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203775" y="1307850"/>
            <a:ext cx="2287500" cy="3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Average speed of top 5 vs bottom 5 agents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ELECT 'TOP 5 Agents' AS category,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ROUND(AVG(Avg_Speed_KM_HR), 2) AS avg_speed_kmh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(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SELECT Avg_Speed_KM_HR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FROM deliveryagents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 BY On_Time_Percentage DESC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LIMIT 5)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op_agents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UNION ALL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'BOTTOM 5 Agents' AS category, 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ROUND(AVG(Avg_Speed_KM_HR), 2) AS avg_speed_kmh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(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SELECT Avg_Speed_KM_HR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FROM deliveryagents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 BY On_Time_Percentage ASC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LIMIT 5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) bottom_agents;</a:t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52750" y="2899675"/>
            <a:ext cx="1924050" cy="5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TASK 6 – SHIPMENT TRACKING ANALYTICS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1297500" y="1307850"/>
            <a:ext cx="2288700" cy="26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303">
                <a:solidFill>
                  <a:srgbClr val="93C47D"/>
                </a:solidFill>
              </a:rPr>
              <a:t>T</a:t>
            </a:r>
            <a:r>
              <a:rPr lang="en-GB" sz="5303">
                <a:solidFill>
                  <a:srgbClr val="93C47D"/>
                </a:solidFill>
              </a:rPr>
              <a:t>he last checkpoint and time</a:t>
            </a:r>
            <a:endParaRPr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SELECT 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Order_ID, Checkpoint, Checkpoint_Time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FROM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shipmenttracking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WHERE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Checkpoint_Time = (SELECT 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        MAX(Checkpoint_Time)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    FROM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        shipmenttracking s2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    WHERE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2"/>
                </a:solidFill>
              </a:rPr>
              <a:t>            </a:t>
            </a:r>
            <a:r>
              <a:rPr lang="en-GB" sz="2100">
                <a:solidFill>
                  <a:schemeClr val="accent2"/>
                </a:solidFill>
              </a:rPr>
              <a:t>s2.Order_ID = shipmenttracking.Order_ID);</a:t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93C47D"/>
              </a:solidFill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25" y="3122975"/>
            <a:ext cx="1237675" cy="17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3667400" y="1307850"/>
            <a:ext cx="24348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Common delay reasons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Delay_Reason, COUNT(*) AS count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hipmenttracking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Delay_Reason != 'None'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AND Delay_Reason IS NOT NULL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Delay_Reason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ORDER BY count DESC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LIMIT 1;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925" y="3801775"/>
            <a:ext cx="12668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6102200" y="1307850"/>
            <a:ext cx="2739300" cy="20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orders with &gt;2 delayed checkpoints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Order_ID, COUNT(*) AS delayed_count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hipmenttracking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WHERE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Delay_Reason != 'None'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AND Delay_Reason IS NOT NULL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Order_ID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HAVING delayed_count &gt; 2;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5825" y="3337650"/>
            <a:ext cx="1104501" cy="17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Task 7: Advanced KPI Reporting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3"/>
          <p:cNvSpPr txBox="1"/>
          <p:nvPr>
            <p:ph idx="1" type="body"/>
          </p:nvPr>
        </p:nvSpPr>
        <p:spPr>
          <a:xfrm>
            <a:off x="1297500" y="1307850"/>
            <a:ext cx="21720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307">
                <a:solidFill>
                  <a:srgbClr val="93C47D"/>
                </a:solidFill>
              </a:rPr>
              <a:t>Average Delivery Delay per Region</a:t>
            </a:r>
            <a:endParaRPr sz="1307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387">
              <a:solidFill>
                <a:schemeClr val="accent2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297500" y="1775375"/>
            <a:ext cx="2172000" cy="1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r.Start_Location,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ROUND(AVG(DATEDIFF(o.Actual_Delivery_Date,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        o.Expected_Delivery_Date)),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2) AS avg_delay_days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orders o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JOIN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routes r ON o.Route_ID = r.Route_ID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GROUP BY r.Start_Location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ORDER BY avg_delay_days DESC;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4" name="Google Shape;2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075" y="3575975"/>
            <a:ext cx="1299605" cy="144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3469500" y="1307850"/>
            <a:ext cx="23358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On-Time Delivery %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ROUND((COUNT(CASE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    WHEN Delivery_Status = 'On Time' THEN 1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END) * 100.0 / COUNT(*)),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    2) AS on_time_percent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orders;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6" name="Google Shape;2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2950" y="3575975"/>
            <a:ext cx="9620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805300" y="1307850"/>
            <a:ext cx="2531100" cy="20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93C47D"/>
                </a:solidFill>
                <a:latin typeface="Lato"/>
                <a:ea typeface="Lato"/>
                <a:cs typeface="Lato"/>
                <a:sym typeface="Lato"/>
              </a:rPr>
              <a:t>Average Traffic Delay per Route</a:t>
            </a:r>
            <a:endParaRPr sz="1300">
              <a:solidFill>
                <a:srgbClr val="93C47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r.Route_ID, 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r.Traffic_Delay_Min AS avg_traffic_delay_min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FROM routes r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ORDER BY r.Traffic_Delay_Min DESC;</a:t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8" name="Google Shape;23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6150" y="3177002"/>
            <a:ext cx="962025" cy="184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